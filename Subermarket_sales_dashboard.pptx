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84" d="100"/>
          <a:sy n="84" d="100"/>
        </p:scale>
        <p:origin x="216" y="8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4D45E-96D5-4D1B-A560-1E367611B4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9E3ABB-3FB1-441C-87F3-37C95DE02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BAD8F2-A800-4D90-93D8-3E4124E17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F99906-9E6B-483E-B68C-90F2A1B9E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E0A7A-052F-4E45-A19F-DA287E066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726994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F567F-9510-46C7-A39C-141B581D2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80102-694D-42BC-A321-8B96B1FA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C3FB-FCC7-4EB2-A811-38BEAAC2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E98258-5B5B-4740-A3EF-8E7D7548C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2AD2E-7ADB-4A40-BC08-0FDF340F0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4107567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F13AC-4626-49ED-8CB4-E9FB62850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B7D06E-9DCB-43B7-84E7-D4926DE857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D03C7-97A5-4EF3-9F97-0BFAA6018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EE9D1-0753-48EB-A705-8040341B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D5A93-43B5-46DF-9C47-EC89928BB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498644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E8D6F-2917-480E-96FB-3BBB0896C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B7959-4264-497F-88A1-1A875340AE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FBD79F-8347-4A89-AF0D-35D15CB310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C84FEC-B71F-4934-B952-8FAA79643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281220-B147-4E57-B02A-AE547F50D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E8C85-BF92-4126-91F0-5A8B58C8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19299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BE52E-F0D2-447A-B92C-695261F51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14A276-D489-4F65-8B53-1781ADB2C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8DFFEC-3337-40D8-8606-A088008889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EFBA2-2AF9-4BD1-BB12-F19BEDD4BE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D9734F-BBB8-4801-895A-AA61D5CB93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E5B39-4FDC-4B40-930B-37425159D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9BD4C63-9973-4008-B941-4CE9AF401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6C93C0-9834-43E2-8BFF-33E76CA55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74915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2E93C-FBE6-4BD6-9945-7177EC9E0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E7C08-0C5B-4AAA-8637-80348803A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65E12F-0781-4A8E-983C-1BFC340DF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08417A-F30B-45F1-B916-382A468B8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655864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E8F9DB-E613-4A59-87AF-1A4FAA181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979E95-73D0-474B-B180-69AE57309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978492-9BD1-49C7-A44E-65A56B963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0686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C012F-3F4A-48AF-867C-02F41474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9E3B8-1A93-46DB-93ED-7CE6FE26C8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0DE830-CFA9-4C9F-BCB0-B57E068F22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15227E-A472-4129-AFDA-4162AFC98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644908-AF63-4702-AC09-780F80C42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029935-FAEF-4A85-B3C4-7509099A5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266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7C89D-FCBA-49CF-A2A4-DB1406A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FBE2F-863A-4560-B302-BA06BB5F34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E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394B17-6581-4CBD-A10B-1696A58833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9BCA27-2621-40E1-B2B7-0D3F0671D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71C2E-D5D2-4C28-ABCF-6554B73EB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77476-9306-41EA-8409-777E0AFAB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00423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C4A78-93A2-4DDD-B6F1-2E3235A5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38921C-DF5C-48BF-942F-5DC3084A3E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F4437-C075-48B9-80D8-20DA8914F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F68DC6-B072-48F4-8ECF-EA7942889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36504-822F-4265-9537-446B973BC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035029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C2F53E-ABA9-417E-999E-DBAB3C7CB1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E9F773-8663-4862-907C-0ED87A2B8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213F39-CB8D-4F68-987A-E9D5E1FA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88CCFA-07B1-41D4-AE77-E7C1629F9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741F6-97CB-438B-9626-51AED423B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237097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496FDC2-D0BA-4B47-A4E0-C552C77CA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ar-E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44D58D-AD7D-47DE-A3B8-A95719C7B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ar-E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61B14-9D86-4DDA-A305-88A2FE6710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4B1CB-459B-4382-8497-B2DE1EA43EC6}" type="datetimeFigureOut">
              <a:rPr lang="ar-EG" smtClean="0"/>
              <a:t>03/04/1448</a:t>
            </a:fld>
            <a:endParaRPr lang="ar-E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F399B-7C03-47F5-B809-4437EC38C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E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CEC82-5F83-4073-92A7-B988E2E05D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48A21-B01A-4D5A-A18A-493B24A871D9}" type="slidenum">
              <a:rPr lang="ar-EG" smtClean="0"/>
              <a:t>‹#›</a:t>
            </a:fld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337170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E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C49F188-E68D-4E35-ABE2-0EB71F73D1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178" y="-1"/>
            <a:ext cx="10637822" cy="6829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93F3DF-CD1C-4EB5-A197-A586FDD99DE8}"/>
              </a:ext>
            </a:extLst>
          </p:cNvPr>
          <p:cNvSpPr txBox="1"/>
          <p:nvPr/>
        </p:nvSpPr>
        <p:spPr>
          <a:xfrm>
            <a:off x="1954228" y="2127994"/>
            <a:ext cx="8283544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highlight>
                  <a:srgbClr val="800080"/>
                </a:highlight>
                <a:latin typeface="DejaVu Serif Condensed" panose="02060606050605020204" pitchFamily="18" charset="0"/>
                <a:ea typeface="DejaVu Serif Condensed" panose="02060606050605020204" pitchFamily="18" charset="0"/>
                <a:cs typeface="DejaVu Serif Condensed" panose="02060606050605020204" pitchFamily="18" charset="0"/>
              </a:rPr>
              <a:t>Supermarket Sales</a:t>
            </a:r>
            <a:endParaRPr lang="ar-EG" sz="6000" b="1" dirty="0">
              <a:solidFill>
                <a:schemeClr val="bg1"/>
              </a:solidFill>
              <a:highlight>
                <a:srgbClr val="800080"/>
              </a:highlight>
              <a:latin typeface="DejaVu Serif Condensed" panose="02060606050605020204" pitchFamily="18" charset="0"/>
              <a:ea typeface="DejaVu Serif Condensed" panose="0206060605060502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EAC17D-E7B6-4AD8-A15B-5731D0812CC9}"/>
              </a:ext>
            </a:extLst>
          </p:cNvPr>
          <p:cNvSpPr txBox="1"/>
          <p:nvPr/>
        </p:nvSpPr>
        <p:spPr>
          <a:xfrm>
            <a:off x="5549900" y="3143658"/>
            <a:ext cx="5711856" cy="101566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highlight>
                  <a:srgbClr val="800080"/>
                </a:highlight>
                <a:latin typeface="DejaVu Serif Condensed" panose="02060606050605020204" pitchFamily="18" charset="0"/>
                <a:ea typeface="DejaVu Serif Condensed" panose="02060606050605020204" pitchFamily="18" charset="0"/>
                <a:cs typeface="DejaVu Serif Condensed" panose="02060606050605020204" pitchFamily="18" charset="0"/>
              </a:rPr>
              <a:t>Dashboard</a:t>
            </a:r>
            <a:endParaRPr lang="ar-EG" sz="6000" b="1" dirty="0">
              <a:solidFill>
                <a:schemeClr val="bg1"/>
              </a:solidFill>
              <a:highlight>
                <a:srgbClr val="800080"/>
              </a:highlight>
              <a:latin typeface="DejaVu Serif Condensed" panose="02060606050605020204" pitchFamily="18" charset="0"/>
              <a:ea typeface="DejaVu Serif Condensed" panose="0206060605060502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9C3970-A5A1-43A2-A337-5974DC729F11}"/>
              </a:ext>
            </a:extLst>
          </p:cNvPr>
          <p:cNvSpPr txBox="1"/>
          <p:nvPr/>
        </p:nvSpPr>
        <p:spPr>
          <a:xfrm>
            <a:off x="2490016" y="6189488"/>
            <a:ext cx="3960011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rgbClr val="7030A0"/>
                </a:solidFill>
              </a:rPr>
              <a:t>Created by</a:t>
            </a:r>
          </a:p>
          <a:p>
            <a:r>
              <a:rPr lang="en-US" sz="1400" b="1" dirty="0" err="1">
                <a:solidFill>
                  <a:srgbClr val="7030A0"/>
                </a:solidFill>
              </a:rPr>
              <a:t>Yussif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400" b="1" dirty="0" err="1">
                <a:solidFill>
                  <a:srgbClr val="7030A0"/>
                </a:solidFill>
              </a:rPr>
              <a:t>Muhamed</a:t>
            </a:r>
            <a:r>
              <a:rPr lang="en-US" sz="1400" b="1" dirty="0">
                <a:solidFill>
                  <a:srgbClr val="7030A0"/>
                </a:solidFill>
              </a:rPr>
              <a:t> </a:t>
            </a:r>
            <a:r>
              <a:rPr lang="en-US" sz="1400" dirty="0">
                <a:solidFill>
                  <a:srgbClr val="7030A0"/>
                </a:solidFill>
              </a:rPr>
              <a:t>| Junior Data Analyst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B4C108-B491-47EE-939C-6531D98768EF}"/>
              </a:ext>
            </a:extLst>
          </p:cNvPr>
          <p:cNvSpPr/>
          <p:nvPr/>
        </p:nvSpPr>
        <p:spPr>
          <a:xfrm>
            <a:off x="0" y="0"/>
            <a:ext cx="1554178" cy="6829985"/>
          </a:xfrm>
          <a:prstGeom prst="roundRect">
            <a:avLst>
              <a:gd name="adj" fmla="val 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22856072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FE951E-03DB-41EC-B2A8-4E6D85083E70}"/>
              </a:ext>
            </a:extLst>
          </p:cNvPr>
          <p:cNvSpPr/>
          <p:nvPr/>
        </p:nvSpPr>
        <p:spPr>
          <a:xfrm>
            <a:off x="2353236" y="820271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A33DF9-62EE-4E99-A000-D990807B6F06}"/>
              </a:ext>
            </a:extLst>
          </p:cNvPr>
          <p:cNvSpPr/>
          <p:nvPr/>
        </p:nvSpPr>
        <p:spPr>
          <a:xfrm>
            <a:off x="4805083" y="820270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715FF81-26B7-455D-A6ED-30BFD62C67CE}"/>
              </a:ext>
            </a:extLst>
          </p:cNvPr>
          <p:cNvSpPr/>
          <p:nvPr/>
        </p:nvSpPr>
        <p:spPr>
          <a:xfrm>
            <a:off x="7256930" y="820270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5A07B20-4532-406A-B84B-2A3ED52A4A04}"/>
              </a:ext>
            </a:extLst>
          </p:cNvPr>
          <p:cNvSpPr/>
          <p:nvPr/>
        </p:nvSpPr>
        <p:spPr>
          <a:xfrm>
            <a:off x="9708777" y="820269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F6E04-B72B-4279-A384-778F788F7A7E}"/>
              </a:ext>
            </a:extLst>
          </p:cNvPr>
          <p:cNvSpPr/>
          <p:nvPr/>
        </p:nvSpPr>
        <p:spPr>
          <a:xfrm>
            <a:off x="2618915" y="0"/>
            <a:ext cx="8059272" cy="48867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24B840-568E-4F38-A065-C64D9AD11780}"/>
              </a:ext>
            </a:extLst>
          </p:cNvPr>
          <p:cNvSpPr/>
          <p:nvPr/>
        </p:nvSpPr>
        <p:spPr>
          <a:xfrm>
            <a:off x="1783569" y="2231293"/>
            <a:ext cx="6709268" cy="414250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306F52-5CBB-4A76-8F20-B66CEBC27085}"/>
              </a:ext>
            </a:extLst>
          </p:cNvPr>
          <p:cNvSpPr/>
          <p:nvPr/>
        </p:nvSpPr>
        <p:spPr>
          <a:xfrm>
            <a:off x="8707378" y="2062901"/>
            <a:ext cx="3402106" cy="273219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05A94-995B-4F7C-9A94-904831AFD703}"/>
              </a:ext>
            </a:extLst>
          </p:cNvPr>
          <p:cNvSpPr/>
          <p:nvPr/>
        </p:nvSpPr>
        <p:spPr>
          <a:xfrm>
            <a:off x="8707378" y="4973782"/>
            <a:ext cx="3402106" cy="1683429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B84076D-3889-4227-8B40-11F106551DDB}"/>
              </a:ext>
            </a:extLst>
          </p:cNvPr>
          <p:cNvSpPr/>
          <p:nvPr/>
        </p:nvSpPr>
        <p:spPr>
          <a:xfrm>
            <a:off x="0" y="2614"/>
            <a:ext cx="1513813" cy="6855385"/>
          </a:xfrm>
          <a:prstGeom prst="roundRect">
            <a:avLst>
              <a:gd name="adj" fmla="val 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40130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F6E04-B72B-4279-A384-778F788F7A7E}"/>
              </a:ext>
            </a:extLst>
          </p:cNvPr>
          <p:cNvSpPr/>
          <p:nvPr/>
        </p:nvSpPr>
        <p:spPr>
          <a:xfrm>
            <a:off x="2618915" y="0"/>
            <a:ext cx="8059272" cy="48867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24B840-568E-4F38-A065-C64D9AD11780}"/>
              </a:ext>
            </a:extLst>
          </p:cNvPr>
          <p:cNvSpPr/>
          <p:nvPr/>
        </p:nvSpPr>
        <p:spPr>
          <a:xfrm>
            <a:off x="1775807" y="2114714"/>
            <a:ext cx="5309958" cy="252068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306F52-5CBB-4A76-8F20-B66CEBC27085}"/>
              </a:ext>
            </a:extLst>
          </p:cNvPr>
          <p:cNvSpPr/>
          <p:nvPr/>
        </p:nvSpPr>
        <p:spPr>
          <a:xfrm>
            <a:off x="7526482" y="2162071"/>
            <a:ext cx="4360718" cy="4482579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05A94-995B-4F7C-9A94-904831AFD703}"/>
              </a:ext>
            </a:extLst>
          </p:cNvPr>
          <p:cNvSpPr/>
          <p:nvPr/>
        </p:nvSpPr>
        <p:spPr>
          <a:xfrm>
            <a:off x="1775807" y="4947366"/>
            <a:ext cx="5121089" cy="1697284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0F81BC3-C399-41C5-84A2-06FF568E5EEE}"/>
              </a:ext>
            </a:extLst>
          </p:cNvPr>
          <p:cNvSpPr/>
          <p:nvPr/>
        </p:nvSpPr>
        <p:spPr>
          <a:xfrm>
            <a:off x="2823175" y="848005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1EBD4BA-5C43-433A-8BBD-FFA2BA2CFA17}"/>
              </a:ext>
            </a:extLst>
          </p:cNvPr>
          <p:cNvSpPr/>
          <p:nvPr/>
        </p:nvSpPr>
        <p:spPr>
          <a:xfrm>
            <a:off x="5722849" y="843622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07457E-0007-43F2-A5D1-C81A06F9D77D}"/>
              </a:ext>
            </a:extLst>
          </p:cNvPr>
          <p:cNvSpPr/>
          <p:nvPr/>
        </p:nvSpPr>
        <p:spPr>
          <a:xfrm>
            <a:off x="8557329" y="843622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CCD5C08-F450-419C-B27F-031D4F2DD3BD}"/>
              </a:ext>
            </a:extLst>
          </p:cNvPr>
          <p:cNvSpPr/>
          <p:nvPr/>
        </p:nvSpPr>
        <p:spPr>
          <a:xfrm>
            <a:off x="0" y="2614"/>
            <a:ext cx="1513813" cy="6855385"/>
          </a:xfrm>
          <a:prstGeom prst="roundRect">
            <a:avLst>
              <a:gd name="adj" fmla="val 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1162790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3FE951E-03DB-41EC-B2A8-4E6D85083E70}"/>
              </a:ext>
            </a:extLst>
          </p:cNvPr>
          <p:cNvSpPr/>
          <p:nvPr/>
        </p:nvSpPr>
        <p:spPr>
          <a:xfrm>
            <a:off x="4089333" y="714223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8A33DF9-62EE-4E99-A000-D990807B6F06}"/>
              </a:ext>
            </a:extLst>
          </p:cNvPr>
          <p:cNvSpPr/>
          <p:nvPr/>
        </p:nvSpPr>
        <p:spPr>
          <a:xfrm>
            <a:off x="6800138" y="709840"/>
            <a:ext cx="2097740" cy="954741"/>
          </a:xfrm>
          <a:prstGeom prst="round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F6E04-B72B-4279-A384-778F788F7A7E}"/>
              </a:ext>
            </a:extLst>
          </p:cNvPr>
          <p:cNvSpPr/>
          <p:nvPr/>
        </p:nvSpPr>
        <p:spPr>
          <a:xfrm>
            <a:off x="2618915" y="0"/>
            <a:ext cx="8059272" cy="488679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124B840-568E-4F38-A065-C64D9AD11780}"/>
              </a:ext>
            </a:extLst>
          </p:cNvPr>
          <p:cNvSpPr/>
          <p:nvPr/>
        </p:nvSpPr>
        <p:spPr>
          <a:xfrm>
            <a:off x="1783569" y="1894509"/>
            <a:ext cx="5384297" cy="4479294"/>
          </a:xfrm>
          <a:prstGeom prst="roundRect">
            <a:avLst>
              <a:gd name="adj" fmla="val 1265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C306F52-5CBB-4A76-8F20-B66CEBC27085}"/>
              </a:ext>
            </a:extLst>
          </p:cNvPr>
          <p:cNvSpPr/>
          <p:nvPr/>
        </p:nvSpPr>
        <p:spPr>
          <a:xfrm>
            <a:off x="7819350" y="1884218"/>
            <a:ext cx="4009583" cy="2732198"/>
          </a:xfrm>
          <a:prstGeom prst="roundRect">
            <a:avLst>
              <a:gd name="adj" fmla="val 855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6405A94-995B-4F7C-9A94-904831AFD703}"/>
              </a:ext>
            </a:extLst>
          </p:cNvPr>
          <p:cNvSpPr/>
          <p:nvPr/>
        </p:nvSpPr>
        <p:spPr>
          <a:xfrm>
            <a:off x="7652994" y="4836053"/>
            <a:ext cx="4175939" cy="1683429"/>
          </a:xfrm>
          <a:prstGeom prst="roundRect">
            <a:avLst>
              <a:gd name="adj" fmla="val 514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CFD3667-4E56-4EFE-9C4D-477713E71D93}"/>
              </a:ext>
            </a:extLst>
          </p:cNvPr>
          <p:cNvSpPr/>
          <p:nvPr/>
        </p:nvSpPr>
        <p:spPr>
          <a:xfrm>
            <a:off x="0" y="2614"/>
            <a:ext cx="1513813" cy="6855385"/>
          </a:xfrm>
          <a:prstGeom prst="roundRect">
            <a:avLst>
              <a:gd name="adj" fmla="val 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</p:spTree>
    <p:extLst>
      <p:ext uri="{BB962C8B-B14F-4D97-AF65-F5344CB8AC3E}">
        <p14:creationId xmlns:p14="http://schemas.microsoft.com/office/powerpoint/2010/main" val="3229042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6333FB8-C90D-4427-A689-851F348E134F}"/>
              </a:ext>
            </a:extLst>
          </p:cNvPr>
          <p:cNvSpPr/>
          <p:nvPr/>
        </p:nvSpPr>
        <p:spPr>
          <a:xfrm>
            <a:off x="1608113" y="443133"/>
            <a:ext cx="10336237" cy="6117687"/>
          </a:xfrm>
          <a:prstGeom prst="roundRect">
            <a:avLst>
              <a:gd name="adj" fmla="val 9125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EB4C108-B491-47EE-939C-6531D98768EF}"/>
              </a:ext>
            </a:extLst>
          </p:cNvPr>
          <p:cNvSpPr/>
          <p:nvPr/>
        </p:nvSpPr>
        <p:spPr>
          <a:xfrm>
            <a:off x="6286500" y="57090"/>
            <a:ext cx="5543550" cy="753876"/>
          </a:xfrm>
          <a:prstGeom prst="roundRect">
            <a:avLst>
              <a:gd name="adj" fmla="val 5000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0704BC4-0999-49C2-A748-E02A2C1EF8BF}"/>
              </a:ext>
            </a:extLst>
          </p:cNvPr>
          <p:cNvSpPr/>
          <p:nvPr/>
        </p:nvSpPr>
        <p:spPr>
          <a:xfrm>
            <a:off x="1708644" y="944079"/>
            <a:ext cx="5080000" cy="2573821"/>
          </a:xfrm>
          <a:prstGeom prst="round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A070AAE-48DF-434F-8518-6E52C2F909D5}"/>
              </a:ext>
            </a:extLst>
          </p:cNvPr>
          <p:cNvSpPr/>
          <p:nvPr/>
        </p:nvSpPr>
        <p:spPr>
          <a:xfrm>
            <a:off x="1708644" y="3794078"/>
            <a:ext cx="5080000" cy="2620789"/>
          </a:xfrm>
          <a:prstGeom prst="round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984E15-A72A-48FE-9B84-68623FB3F46D}"/>
              </a:ext>
            </a:extLst>
          </p:cNvPr>
          <p:cNvSpPr/>
          <p:nvPr/>
        </p:nvSpPr>
        <p:spPr>
          <a:xfrm>
            <a:off x="6966197" y="944080"/>
            <a:ext cx="5080000" cy="2573821"/>
          </a:xfrm>
          <a:prstGeom prst="round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B11EA86-5288-4B19-84D0-4605A64319AB}"/>
              </a:ext>
            </a:extLst>
          </p:cNvPr>
          <p:cNvSpPr/>
          <p:nvPr/>
        </p:nvSpPr>
        <p:spPr>
          <a:xfrm>
            <a:off x="6958650" y="3777850"/>
            <a:ext cx="5080000" cy="2573820"/>
          </a:xfrm>
          <a:prstGeom prst="roundRect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pic>
        <p:nvPicPr>
          <p:cNvPr id="10" name="Graphic 9" descr="Shopping bag">
            <a:extLst>
              <a:ext uri="{FF2B5EF4-FFF2-40B4-BE49-F238E27FC236}">
                <a16:creationId xmlns:a16="http://schemas.microsoft.com/office/drawing/2014/main" id="{33D36B28-1507-41C4-A45F-0CD194CE5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4291" y="1088865"/>
            <a:ext cx="653556" cy="653556"/>
          </a:xfrm>
          <a:prstGeom prst="rect">
            <a:avLst/>
          </a:prstGeom>
        </p:spPr>
      </p:pic>
      <p:pic>
        <p:nvPicPr>
          <p:cNvPr id="14" name="Graphic 13" descr="Customer review">
            <a:extLst>
              <a:ext uri="{FF2B5EF4-FFF2-40B4-BE49-F238E27FC236}">
                <a16:creationId xmlns:a16="http://schemas.microsoft.com/office/drawing/2014/main" id="{E88F5B33-9939-4B04-84DD-2E5B610A7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89681" y="3888019"/>
            <a:ext cx="576555" cy="576555"/>
          </a:xfrm>
          <a:prstGeom prst="rect">
            <a:avLst/>
          </a:prstGeom>
        </p:spPr>
      </p:pic>
      <p:pic>
        <p:nvPicPr>
          <p:cNvPr id="18" name="Graphic 17" descr="Target">
            <a:extLst>
              <a:ext uri="{FF2B5EF4-FFF2-40B4-BE49-F238E27FC236}">
                <a16:creationId xmlns:a16="http://schemas.microsoft.com/office/drawing/2014/main" id="{27BE1516-9711-40DB-ABE2-2B1F8E9F087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81208" y="85998"/>
            <a:ext cx="660321" cy="660321"/>
          </a:xfrm>
          <a:prstGeom prst="rect">
            <a:avLst/>
          </a:prstGeom>
        </p:spPr>
      </p:pic>
      <p:pic>
        <p:nvPicPr>
          <p:cNvPr id="20" name="Graphic 19" descr="Dollar">
            <a:extLst>
              <a:ext uri="{FF2B5EF4-FFF2-40B4-BE49-F238E27FC236}">
                <a16:creationId xmlns:a16="http://schemas.microsoft.com/office/drawing/2014/main" id="{EF26F2C0-9D18-47A1-9119-F0C7C1A8454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35606" y="1057963"/>
            <a:ext cx="634515" cy="61910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051630D5-93B9-41BB-99AF-A577CFB9D7A9}"/>
              </a:ext>
            </a:extLst>
          </p:cNvPr>
          <p:cNvSpPr txBox="1"/>
          <p:nvPr/>
        </p:nvSpPr>
        <p:spPr>
          <a:xfrm>
            <a:off x="2360487" y="1105329"/>
            <a:ext cx="4475307" cy="12311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.Insights:</a:t>
            </a:r>
          </a:p>
          <a:p>
            <a:r>
              <a:rPr lang="en-US" dirty="0">
                <a:solidFill>
                  <a:schemeClr val="bg1"/>
                </a:solidFill>
              </a:rPr>
              <a:t>|Clothing is the highest –selling category, generating </a:t>
            </a:r>
            <a:r>
              <a:rPr lang="en-US" b="1" dirty="0">
                <a:solidFill>
                  <a:schemeClr val="bg1"/>
                </a:solidFill>
              </a:rPr>
              <a:t>1.31M</a:t>
            </a:r>
            <a:r>
              <a:rPr lang="en-US" dirty="0">
                <a:solidFill>
                  <a:schemeClr val="bg1"/>
                </a:solidFill>
              </a:rPr>
              <a:t> in sales with a cost of </a:t>
            </a:r>
            <a:r>
              <a:rPr lang="en-US" b="1" dirty="0">
                <a:solidFill>
                  <a:schemeClr val="bg1"/>
                </a:solidFill>
              </a:rPr>
              <a:t>0.66M</a:t>
            </a:r>
            <a:endParaRPr lang="ar-EG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6BDEB0-FBEE-41BD-97FC-C3CF3FB7B998}"/>
              </a:ext>
            </a:extLst>
          </p:cNvPr>
          <p:cNvSpPr txBox="1"/>
          <p:nvPr/>
        </p:nvSpPr>
        <p:spPr>
          <a:xfrm>
            <a:off x="2090446" y="2270870"/>
            <a:ext cx="4475307" cy="12311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.Recommendation:</a:t>
            </a:r>
          </a:p>
          <a:p>
            <a:r>
              <a:rPr lang="en-US" dirty="0">
                <a:solidFill>
                  <a:schemeClr val="bg1"/>
                </a:solidFill>
              </a:rPr>
              <a:t>| Maintain sufficient stock of clothing product and focus promotions on high-performing items.</a:t>
            </a:r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D1F28B-2033-4EEF-8987-4AFFA81F344E}"/>
              </a:ext>
            </a:extLst>
          </p:cNvPr>
          <p:cNvSpPr txBox="1"/>
          <p:nvPr/>
        </p:nvSpPr>
        <p:spPr>
          <a:xfrm>
            <a:off x="2360487" y="3888019"/>
            <a:ext cx="447530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 Insight</a:t>
            </a:r>
          </a:p>
          <a:p>
            <a:r>
              <a:rPr lang="en-US" dirty="0">
                <a:solidFill>
                  <a:schemeClr val="bg1"/>
                </a:solidFill>
              </a:rPr>
              <a:t>| The North region generated the highest sales amount at </a:t>
            </a:r>
            <a:r>
              <a:rPr lang="en-US" b="1" dirty="0">
                <a:solidFill>
                  <a:schemeClr val="bg1"/>
                </a:solidFill>
              </a:rPr>
              <a:t>1.37M</a:t>
            </a:r>
            <a:endParaRPr lang="ar-EG" b="1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658F0A-CA6B-4880-A162-9DCF3885059A}"/>
              </a:ext>
            </a:extLst>
          </p:cNvPr>
          <p:cNvSpPr txBox="1"/>
          <p:nvPr/>
        </p:nvSpPr>
        <p:spPr>
          <a:xfrm>
            <a:off x="2090445" y="4919020"/>
            <a:ext cx="4475307" cy="12311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.Recommendation:</a:t>
            </a:r>
          </a:p>
          <a:p>
            <a:r>
              <a:rPr lang="en-US" dirty="0">
                <a:solidFill>
                  <a:schemeClr val="bg1"/>
                </a:solidFill>
              </a:rPr>
              <a:t>| Analyze the successful products and customer behavior in the North and apply these strategies to Lower-performing regions.</a:t>
            </a:r>
            <a:endParaRPr lang="ar-EG" dirty="0">
              <a:solidFill>
                <a:schemeClr val="bg1"/>
              </a:solidFill>
            </a:endParaRPr>
          </a:p>
        </p:txBody>
      </p:sp>
      <p:pic>
        <p:nvPicPr>
          <p:cNvPr id="26" name="Graphic 25" descr="Marker">
            <a:extLst>
              <a:ext uri="{FF2B5EF4-FFF2-40B4-BE49-F238E27FC236}">
                <a16:creationId xmlns:a16="http://schemas.microsoft.com/office/drawing/2014/main" id="{F4A58492-F740-4E5A-B242-32DCF8A9939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738451" y="3811125"/>
            <a:ext cx="703989" cy="70398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69ECC50-C980-4347-863C-AE940E228147}"/>
              </a:ext>
            </a:extLst>
          </p:cNvPr>
          <p:cNvSpPr txBox="1"/>
          <p:nvPr/>
        </p:nvSpPr>
        <p:spPr>
          <a:xfrm>
            <a:off x="7536182" y="1038324"/>
            <a:ext cx="447530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 Insights:</a:t>
            </a:r>
          </a:p>
          <a:p>
            <a:r>
              <a:rPr lang="en-US" dirty="0">
                <a:solidFill>
                  <a:schemeClr val="bg1"/>
                </a:solidFill>
              </a:rPr>
              <a:t>|The business generated </a:t>
            </a:r>
            <a:r>
              <a:rPr lang="en-US" b="1" dirty="0">
                <a:solidFill>
                  <a:schemeClr val="bg1"/>
                </a:solidFill>
              </a:rPr>
              <a:t>253.14K</a:t>
            </a:r>
            <a:r>
              <a:rPr lang="en-US" dirty="0">
                <a:solidFill>
                  <a:schemeClr val="bg1"/>
                </a:solidFill>
              </a:rPr>
              <a:t> in Total </a:t>
            </a:r>
            <a:r>
              <a:rPr lang="en-US" b="1" dirty="0">
                <a:solidFill>
                  <a:schemeClr val="bg1"/>
                </a:solidFill>
              </a:rPr>
              <a:t>profit</a:t>
            </a:r>
            <a:r>
              <a:rPr lang="en-US" dirty="0">
                <a:solidFill>
                  <a:schemeClr val="bg1"/>
                </a:solidFill>
              </a:rPr>
              <a:t> from </a:t>
            </a:r>
            <a:r>
              <a:rPr lang="en-US" b="1" dirty="0">
                <a:solidFill>
                  <a:schemeClr val="bg1"/>
                </a:solidFill>
              </a:rPr>
              <a:t>25K</a:t>
            </a:r>
            <a:r>
              <a:rPr lang="en-US" dirty="0">
                <a:solidFill>
                  <a:schemeClr val="bg1"/>
                </a:solidFill>
              </a:rPr>
              <a:t> unit sold.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5D1FC2-802F-4CB0-8A22-6C53CBB9D074}"/>
              </a:ext>
            </a:extLst>
          </p:cNvPr>
          <p:cNvSpPr txBox="1"/>
          <p:nvPr/>
        </p:nvSpPr>
        <p:spPr>
          <a:xfrm>
            <a:off x="7182344" y="2088258"/>
            <a:ext cx="4475307" cy="12311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 Recommendation:</a:t>
            </a:r>
          </a:p>
          <a:p>
            <a:r>
              <a:rPr lang="en-US" dirty="0">
                <a:solidFill>
                  <a:schemeClr val="bg1"/>
                </a:solidFill>
              </a:rPr>
              <a:t>|Focus on high –margin products and optimize pricing to improve overall profitability.</a:t>
            </a:r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101446C-385F-4915-91C9-9ACC15541866}"/>
              </a:ext>
            </a:extLst>
          </p:cNvPr>
          <p:cNvSpPr txBox="1"/>
          <p:nvPr/>
        </p:nvSpPr>
        <p:spPr>
          <a:xfrm>
            <a:off x="7711024" y="3871620"/>
            <a:ext cx="4475307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 Insights:</a:t>
            </a:r>
          </a:p>
          <a:p>
            <a:r>
              <a:rPr lang="en-US" dirty="0">
                <a:solidFill>
                  <a:schemeClr val="bg1"/>
                </a:solidFill>
              </a:rPr>
              <a:t>|New and returning customers contributed equally to total profit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384F98-F1A1-4CC8-9477-E1AAF6DF3CF4}"/>
              </a:ext>
            </a:extLst>
          </p:cNvPr>
          <p:cNvSpPr txBox="1"/>
          <p:nvPr/>
        </p:nvSpPr>
        <p:spPr>
          <a:xfrm>
            <a:off x="7268543" y="4973145"/>
            <a:ext cx="4475307" cy="12311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. Recommendation:</a:t>
            </a:r>
          </a:p>
          <a:p>
            <a:r>
              <a:rPr lang="en-US" dirty="0">
                <a:solidFill>
                  <a:schemeClr val="bg1"/>
                </a:solidFill>
              </a:rPr>
              <a:t>|Maintain customer acquisition efforts while strengthening loyalty strategies to increase repeat purchases.</a:t>
            </a:r>
            <a:endParaRPr lang="ar-EG" dirty="0">
              <a:solidFill>
                <a:schemeClr val="bg1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EF5506B-4D57-4EFF-B75D-CAE38B5B49AB}"/>
              </a:ext>
            </a:extLst>
          </p:cNvPr>
          <p:cNvSpPr/>
          <p:nvPr/>
        </p:nvSpPr>
        <p:spPr>
          <a:xfrm>
            <a:off x="0" y="2614"/>
            <a:ext cx="1513813" cy="6855385"/>
          </a:xfrm>
          <a:prstGeom prst="roundRect">
            <a:avLst>
              <a:gd name="adj" fmla="val 0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ar-EG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F21DA947-1BFB-43EE-8581-5EC6FACE223B}"/>
              </a:ext>
            </a:extLst>
          </p:cNvPr>
          <p:cNvSpPr/>
          <p:nvPr/>
        </p:nvSpPr>
        <p:spPr>
          <a:xfrm>
            <a:off x="1673936" y="730065"/>
            <a:ext cx="388003" cy="36786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1</a:t>
            </a:r>
            <a:endParaRPr lang="ar-EG" b="1" dirty="0">
              <a:solidFill>
                <a:srgbClr val="7030A0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54516B8E-1FD3-4225-AE76-7BA9316C2DD9}"/>
              </a:ext>
            </a:extLst>
          </p:cNvPr>
          <p:cNvSpPr/>
          <p:nvPr/>
        </p:nvSpPr>
        <p:spPr>
          <a:xfrm>
            <a:off x="6835794" y="906793"/>
            <a:ext cx="388003" cy="36786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2</a:t>
            </a:r>
            <a:endParaRPr lang="ar-EG" b="1" dirty="0">
              <a:solidFill>
                <a:srgbClr val="7030A0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AA65CFD8-55AC-4518-8EA5-51F70C4F6E8F}"/>
              </a:ext>
            </a:extLst>
          </p:cNvPr>
          <p:cNvSpPr/>
          <p:nvPr/>
        </p:nvSpPr>
        <p:spPr>
          <a:xfrm>
            <a:off x="1647944" y="3548779"/>
            <a:ext cx="388003" cy="36786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</a:t>
            </a:r>
            <a:endParaRPr lang="ar-EG" b="1" dirty="0">
              <a:solidFill>
                <a:srgbClr val="7030A0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53DA0B54-8006-4E1D-957C-FA756BDCA3FE}"/>
              </a:ext>
            </a:extLst>
          </p:cNvPr>
          <p:cNvSpPr/>
          <p:nvPr/>
        </p:nvSpPr>
        <p:spPr>
          <a:xfrm>
            <a:off x="6893832" y="3546625"/>
            <a:ext cx="388003" cy="36786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4</a:t>
            </a:r>
            <a:endParaRPr lang="ar-EG" b="1" dirty="0">
              <a:solidFill>
                <a:srgbClr val="7030A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E93A41E-057E-4A62-AF24-0C0A7F187662}"/>
              </a:ext>
            </a:extLst>
          </p:cNvPr>
          <p:cNvSpPr txBox="1"/>
          <p:nvPr/>
        </p:nvSpPr>
        <p:spPr>
          <a:xfrm>
            <a:off x="6845790" y="-26362"/>
            <a:ext cx="5080000" cy="89255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…Goal:</a:t>
            </a:r>
          </a:p>
          <a:p>
            <a:r>
              <a:rPr lang="en-US" sz="1600" dirty="0">
                <a:solidFill>
                  <a:schemeClr val="bg1"/>
                </a:solidFill>
              </a:rPr>
              <a:t>Identify key drivers and opportunities to improve business performance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B8019F2-434C-4E27-A586-0E6E92F7E952}"/>
              </a:ext>
            </a:extLst>
          </p:cNvPr>
          <p:cNvSpPr txBox="1"/>
          <p:nvPr/>
        </p:nvSpPr>
        <p:spPr>
          <a:xfrm>
            <a:off x="48111" y="21605"/>
            <a:ext cx="1430560" cy="95410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Key</a:t>
            </a:r>
          </a:p>
          <a:p>
            <a:pPr algn="ctr"/>
            <a:r>
              <a:rPr lang="en-US" sz="2800" b="1" dirty="0">
                <a:solidFill>
                  <a:schemeClr val="bg1"/>
                </a:solidFill>
              </a:rPr>
              <a:t>Insights</a:t>
            </a:r>
            <a:endParaRPr lang="ar-EG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12102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166</Words>
  <Application>Microsoft Office PowerPoint</Application>
  <PresentationFormat>Widescreen</PresentationFormat>
  <Paragraphs>28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DejaVu Serif Condensed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XPs</dc:creator>
  <cp:lastModifiedBy>XPs</cp:lastModifiedBy>
  <cp:revision>15</cp:revision>
  <dcterms:created xsi:type="dcterms:W3CDTF">2026-08-26T10:43:10Z</dcterms:created>
  <dcterms:modified xsi:type="dcterms:W3CDTF">2026-09-16T00:18:42Z</dcterms:modified>
</cp:coreProperties>
</file>